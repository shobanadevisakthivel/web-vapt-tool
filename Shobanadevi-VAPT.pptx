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0"/>
    <p:sldId id="265" r:id="rId11"/>
    <p:sldId id="263" r:id="rId9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6a2d36f-e67f-8c90-4d5f-e1b6e24a828b}">
          <p14:sldIdLst>
            <p14:sldId id="256"/>
            <p14:sldId id="257"/>
            <p14:sldId id="258"/>
          </p14:sldIdLst>
        </p14:section>
        <p14:section name="Design" id="{51fc1417-02fa-7c0e-95da-31ff9e5a128b}">
          <p14:sldIdLst>
            <p14:sldId id="259"/>
            <p14:sldId id="260"/>
            <p14:sldId id="261"/>
            <p14:sldId id="262"/>
          </p14:sldIdLst>
        </p14:section>
        <p14:section name="Output" id="{12484105-f923-130a-b75f-ed85043cf9b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INTERNSHIP VIVA 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76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Assessment and Penetration Testing Tools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Web-based VAPT Dashboard</a:t>
            </a:r>
            <a:endParaRPr lang="en-US" sz="1800" dirty="0"/>
          </a:p>
        </p:txBody>
      </p:sp>
      <p:sp>
        <p:nvSpPr>
          <p:cNvPr id="5" name="Backdrop circle"/>
          <p:cNvSpPr/>
          <p:nvPr/>
        </p:nvSpPr>
        <p:spPr>
          <a:xfrm>
            <a:off x="6583680" y="640080"/>
            <a:ext cx="2103120" cy="21031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6" name="Shield circle"/>
          <p:cNvSpPr/>
          <p:nvPr/>
        </p:nvSpPr>
        <p:spPr>
          <a:xfrm>
            <a:off x="6995160" y="105156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Shield icon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640080" cy="640080"/>
          </a:xfrm>
          <a:prstGeom prst="rect">
            <a:avLst/>
          </a:prstGeom>
        </p:spPr>
      </p:pic>
      <p:sp>
        <p:nvSpPr>
          <p:cNvPr id="8" name="Info card"/>
          <p:cNvSpPr/>
          <p:nvPr/>
        </p:nvSpPr>
        <p:spPr>
          <a:xfrm>
            <a:off x="457200" y="3017520"/>
            <a:ext cx="8229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136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Name: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31363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Shobanadevi 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56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Class: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34564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III B.Sc. Computer Science (Cyber Security)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776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Guide: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37764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Dr. G. Jothi, M.C.A., M.Phil., Ph.D., NET, Assistant Professor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Internship Company: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40965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Optimus Technocrates India Private Limited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A"/>
                </a:solidFill>
              </a:rPr>
              <a:t>Periyar University  |  Sona College of Arts and Science, Salem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Why security matters circle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Why security matters" descr="Why security mat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5773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security matters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applications handle sensitive data, so security weaknesses create real risk.</a:t>
            </a:r>
            <a:endParaRPr lang="en-US" sz="1600" dirty="0"/>
          </a:p>
        </p:txBody>
      </p:sp>
      <p:sp>
        <p:nvSpPr>
          <p:cNvPr id="6" name="What VAPT is circle"/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What VAPT is" descr="What VAPT 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6746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VAPT is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Vulnerability Assessment finds weaknesses; Penetration Testing shows how they could be exploited.</a:t>
            </a:r>
            <a:endParaRPr lang="en-US" sz="1600" dirty="0"/>
          </a:p>
        </p:txBody>
      </p:sp>
      <p:sp>
        <p:nvSpPr>
          <p:cNvPr id="9" name="This project circle"/>
          <p:cNvSpPr/>
          <p:nvPr/>
        </p:nvSpPr>
        <p:spPr>
          <a:xfrm>
            <a:off x="457200" y="3611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This project" descr="This pro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7719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This project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web-based VAPT Dashboard built with Python, Flask, HTML, CSS, JavaScript and SQLite.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Problem statement card"/>
          <p:cNvSpPr/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Web applications hold sensitive data, but security misconfigurations and missing HTTP security headers leave them exposed to cyber attacks.</a:t>
            </a:r>
            <a:endParaRPr lang="en-US" sz="2000" dirty="0"/>
          </a:p>
        </p:txBody>
      </p:sp>
      <p:sp>
        <p:nvSpPr>
          <p:cNvPr id="5" name="Need card 1"/>
          <p:cNvSpPr/>
          <p:nvPr/>
        </p:nvSpPr>
        <p:spPr>
          <a:xfrm>
            <a:off x="457200" y="27432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6" name="Detect weaknesses circle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Detect weaknesses" descr="Detect weakne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30518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Detect weaknesses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Scan website URLs and analyse their HTTP security headers.</a:t>
            </a:r>
            <a:endParaRPr lang="en-US" sz="1400" dirty="0"/>
          </a:p>
        </p:txBody>
      </p:sp>
      <p:sp>
        <p:nvSpPr>
          <p:cNvPr id="10" name="Need card 2"/>
          <p:cNvSpPr/>
          <p:nvPr/>
        </p:nvSpPr>
        <p:spPr>
          <a:xfrm>
            <a:off x="3291840" y="27432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11" name="Classify risk circle"/>
          <p:cNvSpPr/>
          <p:nvPr/>
        </p:nvSpPr>
        <p:spPr>
          <a:xfrm>
            <a:off x="3474720" y="2926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Classify risk" descr="Classify ri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30518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1480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Classify risk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 each finding as SAFE, MEDIUM or HIGH risk.</a:t>
            </a:r>
            <a:endParaRPr lang="en-US" sz="1400" dirty="0"/>
          </a:p>
        </p:txBody>
      </p:sp>
      <p:sp>
        <p:nvSpPr>
          <p:cNvPr id="15" name="Need card 3"/>
          <p:cNvSpPr/>
          <p:nvPr/>
        </p:nvSpPr>
        <p:spPr>
          <a:xfrm>
            <a:off x="6126480" y="274320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16" name="Record and report circle"/>
          <p:cNvSpPr/>
          <p:nvPr/>
        </p:nvSpPr>
        <p:spPr>
          <a:xfrm>
            <a:off x="6309360" y="2926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Record and report" descr="Record and re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305181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0" y="2926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Record and report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scan history and generate downloadable PDF reports.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User box"/>
          <p:cNvSpPr/>
          <p:nvPr/>
        </p:nvSpPr>
        <p:spPr>
          <a:xfrm>
            <a:off x="457200" y="1463040"/>
            <a:ext cx="19202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30352" y="146304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 (Browser)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HTML, CSS, JavaScript</a:t>
            </a:r>
            <a:endParaRPr lang="en-US" sz="1500" dirty="0"/>
          </a:p>
        </p:txBody>
      </p:sp>
      <p:sp>
        <p:nvSpPr>
          <p:cNvPr id="5" name="Target website box"/>
          <p:cNvSpPr/>
          <p:nvPr/>
        </p:nvSpPr>
        <p:spPr>
          <a:xfrm>
            <a:off x="457200" y="3383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2F5FA3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30352" y="338328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Target Website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URL entered for scanning</a:t>
            </a:r>
            <a:endParaRPr lang="en-US" sz="1500" dirty="0"/>
          </a:p>
        </p:txBody>
      </p:sp>
      <p:sp>
        <p:nvSpPr>
          <p:cNvPr id="7" name="Flask container"/>
          <p:cNvSpPr/>
          <p:nvPr/>
        </p:nvSpPr>
        <p:spPr>
          <a:xfrm>
            <a:off x="3017520" y="1234440"/>
            <a:ext cx="3291840" cy="3337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Flask Web Application (Python)</a:t>
            </a:r>
            <a:endParaRPr lang="en-US" sz="1500" dirty="0"/>
          </a:p>
        </p:txBody>
      </p:sp>
      <p:sp>
        <p:nvSpPr>
          <p:cNvPr id="9" name="Secure Login"/>
          <p:cNvSpPr/>
          <p:nvPr/>
        </p:nvSpPr>
        <p:spPr>
          <a:xfrm>
            <a:off x="3154680" y="178308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27832" y="17830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Secure Login</a:t>
            </a:r>
            <a:endParaRPr lang="en-US" sz="1400" dirty="0"/>
          </a:p>
        </p:txBody>
      </p:sp>
      <p:sp>
        <p:nvSpPr>
          <p:cNvPr id="11" name="Scan and Header Analysis"/>
          <p:cNvSpPr/>
          <p:nvPr/>
        </p:nvSpPr>
        <p:spPr>
          <a:xfrm>
            <a:off x="4709160" y="178308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82312" y="17830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Scan and Header Analysis</a:t>
            </a:r>
            <a:endParaRPr lang="en-US" sz="1400" dirty="0"/>
          </a:p>
        </p:txBody>
      </p:sp>
      <p:sp>
        <p:nvSpPr>
          <p:cNvPr id="13" name="Risk Classification"/>
          <p:cNvSpPr/>
          <p:nvPr/>
        </p:nvSpPr>
        <p:spPr>
          <a:xfrm>
            <a:off x="3154680" y="315468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27832" y="31546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Classification</a:t>
            </a:r>
            <a:endParaRPr lang="en-US" sz="1400" dirty="0"/>
          </a:p>
        </p:txBody>
      </p:sp>
      <p:sp>
        <p:nvSpPr>
          <p:cNvPr id="15" name="PDF Report Generator"/>
          <p:cNvSpPr/>
          <p:nvPr/>
        </p:nvSpPr>
        <p:spPr>
          <a:xfrm>
            <a:off x="4709160" y="3154680"/>
            <a:ext cx="141732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82312" y="315468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PDF Report Generator</a:t>
            </a:r>
            <a:endParaRPr lang="en-US" sz="1400" dirty="0"/>
          </a:p>
        </p:txBody>
      </p:sp>
      <p:sp>
        <p:nvSpPr>
          <p:cNvPr id="17" name="Database box"/>
          <p:cNvSpPr/>
          <p:nvPr/>
        </p:nvSpPr>
        <p:spPr>
          <a:xfrm>
            <a:off x="6949440" y="2331720"/>
            <a:ext cx="173736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022592" y="2331720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SQLite Database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Scan history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423160" y="2011680"/>
            <a:ext cx="548640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23160" y="3749040"/>
            <a:ext cx="548640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5080" y="2971800"/>
            <a:ext cx="548640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Scan Analysis and Risk Classification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Header Checks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Risk Level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Dashboard Output</a:t>
            </a:r>
            <a:endParaRPr lang="en-US" sz="1600" dirty="0"/>
          </a:p>
        </p:txBody>
      </p:sp>
      <p:sp>
        <p:nvSpPr>
          <p:cNvPr id="6" name="Check CSP"/>
          <p:cNvSpPr/>
          <p:nvPr/>
        </p:nvSpPr>
        <p:spPr>
          <a:xfrm>
            <a:off x="457200" y="1691640"/>
            <a:ext cx="23774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CSP</a:t>
            </a:r>
            <a:endParaRPr lang="en-US" sz="1400" dirty="0"/>
          </a:p>
        </p:txBody>
      </p:sp>
      <p:sp>
        <p:nvSpPr>
          <p:cNvPr id="8" name="Check HSTS"/>
          <p:cNvSpPr/>
          <p:nvPr/>
        </p:nvSpPr>
        <p:spPr>
          <a:xfrm>
            <a:off x="457200" y="2331720"/>
            <a:ext cx="23774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HSTS</a:t>
            </a:r>
            <a:endParaRPr lang="en-US" sz="1400" dirty="0"/>
          </a:p>
        </p:txBody>
      </p:sp>
      <p:sp>
        <p:nvSpPr>
          <p:cNvPr id="10" name="Check X-Content-Type-Options"/>
          <p:cNvSpPr/>
          <p:nvPr/>
        </p:nvSpPr>
        <p:spPr>
          <a:xfrm>
            <a:off x="457200" y="2971800"/>
            <a:ext cx="23774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X-Content-Type-Options</a:t>
            </a:r>
            <a:endParaRPr lang="en-US" sz="1400" dirty="0"/>
          </a:p>
        </p:txBody>
      </p:sp>
      <p:sp>
        <p:nvSpPr>
          <p:cNvPr id="12" name="Check Server info exposed"/>
          <p:cNvSpPr/>
          <p:nvPr/>
        </p:nvSpPr>
        <p:spPr>
          <a:xfrm>
            <a:off x="457200" y="3611880"/>
            <a:ext cx="23774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Server info exposed</a:t>
            </a:r>
            <a:endParaRPr lang="en-US" sz="1400" dirty="0"/>
          </a:p>
        </p:txBody>
      </p:sp>
      <p:sp>
        <p:nvSpPr>
          <p:cNvPr id="14" name="Risk SAFE"/>
          <p:cNvSpPr/>
          <p:nvPr/>
        </p:nvSpPr>
        <p:spPr>
          <a:xfrm>
            <a:off x="3383280" y="1737360"/>
            <a:ext cx="237744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SAFE</a:t>
            </a:r>
            <a:endParaRPr lang="en-US" sz="1800" dirty="0"/>
          </a:p>
        </p:txBody>
      </p:sp>
      <p:sp>
        <p:nvSpPr>
          <p:cNvPr id="16" name="Risk MEDIUM"/>
          <p:cNvSpPr/>
          <p:nvPr/>
        </p:nvSpPr>
        <p:spPr>
          <a:xfrm>
            <a:off x="3383280" y="2606040"/>
            <a:ext cx="237744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328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MEDIUM</a:t>
            </a:r>
            <a:endParaRPr lang="en-US" sz="1800" dirty="0"/>
          </a:p>
        </p:txBody>
      </p:sp>
      <p:sp>
        <p:nvSpPr>
          <p:cNvPr id="18" name="Risk HIGH"/>
          <p:cNvSpPr/>
          <p:nvPr/>
        </p:nvSpPr>
        <p:spPr>
          <a:xfrm>
            <a:off x="3383280" y="347472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D64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8328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HIGH</a:t>
            </a:r>
            <a:endParaRPr lang="en-US" sz="1800" dirty="0"/>
          </a:p>
        </p:txBody>
      </p:sp>
      <p:sp>
        <p:nvSpPr>
          <p:cNvPr id="20" name="Output Scan history table"/>
          <p:cNvSpPr/>
          <p:nvPr/>
        </p:nvSpPr>
        <p:spPr>
          <a:xfrm>
            <a:off x="6309360" y="1737360"/>
            <a:ext cx="23774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Scan history table</a:t>
            </a:r>
            <a:endParaRPr lang="en-US" sz="1400" dirty="0"/>
          </a:p>
        </p:txBody>
      </p:sp>
      <p:sp>
        <p:nvSpPr>
          <p:cNvPr id="22" name="Output Risk distribution chart"/>
          <p:cNvSpPr/>
          <p:nvPr/>
        </p:nvSpPr>
        <p:spPr>
          <a:xfrm>
            <a:off x="6309360" y="2606040"/>
            <a:ext cx="23774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080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distribution chart</a:t>
            </a:r>
            <a:endParaRPr lang="en-US" sz="1400" dirty="0"/>
          </a:p>
        </p:txBody>
      </p:sp>
      <p:sp>
        <p:nvSpPr>
          <p:cNvPr id="24" name="Output Downloadable PDF report"/>
          <p:cNvSpPr/>
          <p:nvPr/>
        </p:nvSpPr>
        <p:spPr>
          <a:xfrm>
            <a:off x="6309360" y="3474720"/>
            <a:ext cx="23774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Downloadable PDF report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880360" y="2926080"/>
            <a:ext cx="457200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06440" y="2926080"/>
            <a:ext cx="457200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Flowchart</a:t>
            </a:r>
            <a:endParaRPr lang="en-US" sz="3400" dirty="0"/>
          </a:p>
        </p:txBody>
      </p:sp>
      <p:sp>
        <p:nvSpPr>
          <p:cNvPr id="3" name="Node Start"/>
          <p:cNvSpPr/>
          <p:nvPr/>
        </p:nvSpPr>
        <p:spPr>
          <a:xfrm>
            <a:off x="457200" y="1737360"/>
            <a:ext cx="1280160" cy="868680"/>
          </a:xfrm>
          <a:prstGeom prst="ellipse">
            <a:avLst>
              <a:gd name="adj" fmla="val 10526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30352" y="17373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5" name="Node User login"/>
          <p:cNvSpPr/>
          <p:nvPr/>
        </p:nvSpPr>
        <p:spPr>
          <a:xfrm>
            <a:off x="2194560" y="17373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267712" y="17373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login</a:t>
            </a:r>
            <a:endParaRPr lang="en-US" sz="1200" dirty="0"/>
          </a:p>
        </p:txBody>
      </p:sp>
      <p:sp>
        <p:nvSpPr>
          <p:cNvPr id="7" name="Node Valid login?"/>
          <p:cNvSpPr/>
          <p:nvPr/>
        </p:nvSpPr>
        <p:spPr>
          <a:xfrm>
            <a:off x="3931920" y="1668780"/>
            <a:ext cx="1280160" cy="1005840"/>
          </a:xfrm>
          <a:prstGeom prst="diamond">
            <a:avLst>
              <a:gd name="adj" fmla="val 9091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005072" y="1668780"/>
            <a:ext cx="1133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Valid login?</a:t>
            </a:r>
            <a:endParaRPr lang="en-US" sz="1200" dirty="0"/>
          </a:p>
        </p:txBody>
      </p:sp>
      <p:sp>
        <p:nvSpPr>
          <p:cNvPr id="9" name="Node Enter website URL"/>
          <p:cNvSpPr/>
          <p:nvPr/>
        </p:nvSpPr>
        <p:spPr>
          <a:xfrm>
            <a:off x="5669280" y="17373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742432" y="17373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 website URL</a:t>
            </a:r>
            <a:endParaRPr lang="en-US" sz="1200" dirty="0"/>
          </a:p>
        </p:txBody>
      </p:sp>
      <p:sp>
        <p:nvSpPr>
          <p:cNvPr id="11" name="Node Scan and analyse security headers"/>
          <p:cNvSpPr/>
          <p:nvPr/>
        </p:nvSpPr>
        <p:spPr>
          <a:xfrm>
            <a:off x="7406640" y="17373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79792" y="17373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Scan and analyse security headers</a:t>
            </a:r>
            <a:endParaRPr lang="en-US" sz="1200" dirty="0"/>
          </a:p>
        </p:txBody>
      </p:sp>
      <p:sp>
        <p:nvSpPr>
          <p:cNvPr id="13" name="Node Classify risk: SAFE / MEDIUM / HIGH"/>
          <p:cNvSpPr/>
          <p:nvPr/>
        </p:nvSpPr>
        <p:spPr>
          <a:xfrm>
            <a:off x="7406640" y="3566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9792" y="35661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Classify risk: SAFE / MEDIUM / HIGH</a:t>
            </a:r>
            <a:endParaRPr lang="en-US" sz="1200" dirty="0"/>
          </a:p>
        </p:txBody>
      </p:sp>
      <p:sp>
        <p:nvSpPr>
          <p:cNvPr id="15" name="Node Save to scan history (SQLite)"/>
          <p:cNvSpPr/>
          <p:nvPr/>
        </p:nvSpPr>
        <p:spPr>
          <a:xfrm>
            <a:off x="5669280" y="3566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42432" y="35661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Save to scan history (SQLite)</a:t>
            </a:r>
            <a:endParaRPr lang="en-US" sz="1200" dirty="0"/>
          </a:p>
        </p:txBody>
      </p:sp>
      <p:sp>
        <p:nvSpPr>
          <p:cNvPr id="17" name="Node Show dashboard and risk chart"/>
          <p:cNvSpPr/>
          <p:nvPr/>
        </p:nvSpPr>
        <p:spPr>
          <a:xfrm>
            <a:off x="3931920" y="3566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005072" y="35661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Show dashboard and risk chart</a:t>
            </a:r>
            <a:endParaRPr lang="en-US" sz="1200" dirty="0"/>
          </a:p>
        </p:txBody>
      </p:sp>
      <p:sp>
        <p:nvSpPr>
          <p:cNvPr id="19" name="Node Download PDF report"/>
          <p:cNvSpPr/>
          <p:nvPr/>
        </p:nvSpPr>
        <p:spPr>
          <a:xfrm>
            <a:off x="2194560" y="3566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267712" y="35661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Download PDF report</a:t>
            </a:r>
            <a:endParaRPr lang="en-US" sz="1200" dirty="0"/>
          </a:p>
        </p:txBody>
      </p:sp>
      <p:sp>
        <p:nvSpPr>
          <p:cNvPr id="21" name="Node End"/>
          <p:cNvSpPr/>
          <p:nvPr/>
        </p:nvSpPr>
        <p:spPr>
          <a:xfrm>
            <a:off x="457200" y="3566160"/>
            <a:ext cx="1280160" cy="868680"/>
          </a:xfrm>
          <a:prstGeom prst="ellipse">
            <a:avLst>
              <a:gd name="adj" fmla="val 10526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30352" y="356616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64792" y="2171700"/>
            <a:ext cx="402336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02152" y="2171700"/>
            <a:ext cx="402336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39512" y="2171700"/>
            <a:ext cx="402336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76872" y="2171700"/>
            <a:ext cx="402336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6976872" y="4000500"/>
            <a:ext cx="402336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5239512" y="4000500"/>
            <a:ext cx="402336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3502152" y="4000500"/>
            <a:ext cx="402336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1764792" y="4000500"/>
            <a:ext cx="402336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46720" y="2633472"/>
            <a:ext cx="0" cy="905256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0" y="1325880"/>
            <a:ext cx="0" cy="34290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1325880"/>
            <a:ext cx="1737360" cy="0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1325880"/>
            <a:ext cx="0" cy="384048"/>
          </a:xfrm>
          <a:prstGeom prst="line">
            <a:avLst/>
          </a:prstGeom>
          <a:noFill/>
          <a:ln w="22225">
            <a:solidFill>
              <a:srgbClr val="14305E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017520" y="10515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</a:rPr>
              <a:t>No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239512" y="18790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Technologies and Features</a:t>
            </a:r>
            <a:endParaRPr lang="en-US" sz="3400" dirty="0"/>
          </a:p>
        </p:txBody>
      </p:sp>
      <p:sp>
        <p:nvSpPr>
          <p:cNvPr id="3" name="Technologies card"/>
          <p:cNvSpPr/>
          <p:nvPr/>
        </p:nvSpPr>
        <p:spPr>
          <a:xfrm>
            <a:off x="457200" y="1280160"/>
            <a:ext cx="32918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5" name="Tech Python"/>
          <p:cNvSpPr/>
          <p:nvPr/>
        </p:nvSpPr>
        <p:spPr>
          <a:xfrm>
            <a:off x="685800" y="1920240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Python</a:t>
            </a:r>
            <a:endParaRPr lang="en-US" sz="1400" dirty="0"/>
          </a:p>
        </p:txBody>
      </p:sp>
      <p:sp>
        <p:nvSpPr>
          <p:cNvPr id="7" name="Tech Flask"/>
          <p:cNvSpPr/>
          <p:nvPr/>
        </p:nvSpPr>
        <p:spPr>
          <a:xfrm>
            <a:off x="2240280" y="1920240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Flask</a:t>
            </a:r>
            <a:endParaRPr lang="en-US" sz="1400" dirty="0"/>
          </a:p>
        </p:txBody>
      </p:sp>
      <p:sp>
        <p:nvSpPr>
          <p:cNvPr id="9" name="Tech HTML5"/>
          <p:cNvSpPr/>
          <p:nvPr/>
        </p:nvSpPr>
        <p:spPr>
          <a:xfrm>
            <a:off x="685800" y="2542032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HTML5</a:t>
            </a:r>
            <a:endParaRPr lang="en-US" sz="1400" dirty="0"/>
          </a:p>
        </p:txBody>
      </p:sp>
      <p:sp>
        <p:nvSpPr>
          <p:cNvPr id="11" name="Tech CSS3"/>
          <p:cNvSpPr/>
          <p:nvPr/>
        </p:nvSpPr>
        <p:spPr>
          <a:xfrm>
            <a:off x="2240280" y="2542032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CSS3</a:t>
            </a:r>
            <a:endParaRPr lang="en-US" sz="1400" dirty="0"/>
          </a:p>
        </p:txBody>
      </p:sp>
      <p:sp>
        <p:nvSpPr>
          <p:cNvPr id="13" name="Tech JavaScript"/>
          <p:cNvSpPr/>
          <p:nvPr/>
        </p:nvSpPr>
        <p:spPr>
          <a:xfrm>
            <a:off x="685800" y="3163824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5" name="Tech SQLite"/>
          <p:cNvSpPr/>
          <p:nvPr/>
        </p:nvSpPr>
        <p:spPr>
          <a:xfrm>
            <a:off x="2240280" y="3163824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4028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SQLite</a:t>
            </a:r>
            <a:endParaRPr lang="en-US" sz="1400" dirty="0"/>
          </a:p>
        </p:txBody>
      </p:sp>
      <p:sp>
        <p:nvSpPr>
          <p:cNvPr id="17" name="Tech VS Code"/>
          <p:cNvSpPr/>
          <p:nvPr/>
        </p:nvSpPr>
        <p:spPr>
          <a:xfrm>
            <a:off x="685800" y="3785616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856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VS 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1280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Implemented Features</a:t>
            </a:r>
            <a:endParaRPr lang="en-US" sz="1800" dirty="0"/>
          </a:p>
        </p:txBody>
      </p:sp>
      <p:sp>
        <p:nvSpPr>
          <p:cNvPr id="20" name="Tick circle 1"/>
          <p:cNvSpPr/>
          <p:nvPr/>
        </p:nvSpPr>
        <p:spPr>
          <a:xfrm>
            <a:off x="4206240" y="18562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Tick 1" descr="Check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1920240"/>
            <a:ext cx="146304" cy="14630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663440" y="18288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Secure login</a:t>
            </a:r>
            <a:endParaRPr lang="en-US" sz="1500" dirty="0"/>
          </a:p>
        </p:txBody>
      </p:sp>
      <p:sp>
        <p:nvSpPr>
          <p:cNvPr id="23" name="Tick circle 2"/>
          <p:cNvSpPr/>
          <p:nvPr/>
        </p:nvSpPr>
        <p:spPr>
          <a:xfrm>
            <a:off x="4206240" y="223113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Tick 2" descr="Check 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295144"/>
            <a:ext cx="146304" cy="14630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663440" y="22037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Vulnerability scanning</a:t>
            </a:r>
            <a:endParaRPr lang="en-US" sz="1500" dirty="0"/>
          </a:p>
        </p:txBody>
      </p:sp>
      <p:sp>
        <p:nvSpPr>
          <p:cNvPr id="26" name="Tick circle 3"/>
          <p:cNvSpPr/>
          <p:nvPr/>
        </p:nvSpPr>
        <p:spPr>
          <a:xfrm>
            <a:off x="4206240" y="260604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Tick 3" descr="Check 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670048"/>
            <a:ext cx="146304" cy="14630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663440" y="2578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Security header analysis</a:t>
            </a:r>
            <a:endParaRPr lang="en-US" sz="1500" dirty="0"/>
          </a:p>
        </p:txBody>
      </p:sp>
      <p:sp>
        <p:nvSpPr>
          <p:cNvPr id="29" name="Tick circle 4"/>
          <p:cNvSpPr/>
          <p:nvPr/>
        </p:nvSpPr>
        <p:spPr>
          <a:xfrm>
            <a:off x="4206240" y="298094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Tick 4" descr="Check 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3044952"/>
            <a:ext cx="146304" cy="14630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663440" y="29535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Risk classification: SAFE / MEDIUM / HIGH</a:t>
            </a:r>
            <a:endParaRPr lang="en-US" sz="1500" dirty="0"/>
          </a:p>
        </p:txBody>
      </p:sp>
      <p:sp>
        <p:nvSpPr>
          <p:cNvPr id="32" name="Tick circle 5"/>
          <p:cNvSpPr/>
          <p:nvPr/>
        </p:nvSpPr>
        <p:spPr>
          <a:xfrm>
            <a:off x="4206240" y="335584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Tick 5" descr="Check mar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419856"/>
            <a:ext cx="146304" cy="14630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663440" y="33284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Scan history</a:t>
            </a:r>
            <a:endParaRPr lang="en-US" sz="1500" dirty="0"/>
          </a:p>
        </p:txBody>
      </p:sp>
      <p:sp>
        <p:nvSpPr>
          <p:cNvPr id="35" name="Tick circle 6"/>
          <p:cNvSpPr/>
          <p:nvPr/>
        </p:nvSpPr>
        <p:spPr>
          <a:xfrm>
            <a:off x="4206240" y="373075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Tick 6" descr="Check mar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248" y="3794760"/>
            <a:ext cx="146304" cy="14630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663440" y="37033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Interactive dashboard with risk chart</a:t>
            </a:r>
            <a:endParaRPr lang="en-US" sz="1500" dirty="0"/>
          </a:p>
        </p:txBody>
      </p:sp>
      <p:sp>
        <p:nvSpPr>
          <p:cNvPr id="38" name="Tick circle 7"/>
          <p:cNvSpPr/>
          <p:nvPr/>
        </p:nvSpPr>
        <p:spPr>
          <a:xfrm>
            <a:off x="4206240" y="410565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9" name="Tick 7" descr="Check mar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0248" y="4169664"/>
            <a:ext cx="146304" cy="14630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4663440" y="40782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Downloadable PDF reports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Output 3: Vulnerability Analysis Page</a:t>
            </a:r>
            <a:endParaRPr lang="en-US" sz="3400" dirty="0"/>
          </a:p>
        </p:txBody>
      </p:sp>
      <p:pic>
        <p:nvPicPr>
          <p:cNvPr id="3" name="Output 3: Vulnerability Analysis Page" descr="Output 3: Vulnerability Analysis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105" y="1097280"/>
            <a:ext cx="5663790" cy="26517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pic>
      <p:sp>
        <p:nvSpPr>
          <p:cNvPr id="4" name="Screenshot frame"/>
          <p:cNvSpPr/>
          <p:nvPr/>
        </p:nvSpPr>
        <p:spPr>
          <a:xfrm>
            <a:off x="1740105" y="1097280"/>
            <a:ext cx="5663790" cy="2651760"/>
          </a:xfrm>
          <a:prstGeom prst="rect">
            <a:avLst/>
          </a:prstGeom>
          <a:ln w="12700">
            <a:solidFill>
              <a:srgbClr val="B9D3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27A"/>
                </a:solidFill>
              </a:rPr>
              <a:t>3. Vulnerability Analysis Page: This page analyzes web application inputs and identifies potential vulnerabilities such as SQL injection and Cross-Site Scripting (XSS). It displays the results with risk levels such as SAFE, MEDIUM, and HIGH to help users understand the security status.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Output 1: Login Page</a:t>
            </a:r>
            <a:endParaRPr lang="en-US" sz="3400" dirty="0"/>
          </a:p>
        </p:txBody>
      </p:sp>
      <p:pic>
        <p:nvPicPr>
          <p:cNvPr id="3" name="Output 1: Login Page" descr="Output 1: Login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7639" y="1097280"/>
            <a:ext cx="6288722" cy="26517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pic>
      <p:sp>
        <p:nvSpPr>
          <p:cNvPr id="4" name="Screenshot frame"/>
          <p:cNvSpPr/>
          <p:nvPr/>
        </p:nvSpPr>
        <p:spPr>
          <a:xfrm>
            <a:off x="1427639" y="1097280"/>
            <a:ext cx="6288722" cy="2651760"/>
          </a:xfrm>
          <a:prstGeom prst="rect">
            <a:avLst/>
          </a:prstGeom>
          <a:ln w="12700">
            <a:solidFill>
              <a:srgbClr val="B9D3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27A"/>
                </a:solidFill>
              </a:rPr>
              <a:t>1. Login Page: The login page provides secure access to the VAPT application through username and password authentication. It ensures that only authorized users can access the 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Output 2: Dashboard</a:t>
            </a:r>
            <a:endParaRPr lang="en-US" sz="3400" dirty="0"/>
          </a:p>
        </p:txBody>
      </p:sp>
      <p:pic>
        <p:nvPicPr>
          <p:cNvPr id="3" name="Output 2: Dashboard" descr="Output 2: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105" y="1097280"/>
            <a:ext cx="5663790" cy="26517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4305E">
                <a:alpha val="12000"/>
              </a:srgbClr>
            </a:outerShdw>
          </a:effectLst>
        </p:spPr>
      </p:pic>
      <p:sp>
        <p:nvSpPr>
          <p:cNvPr id="4" name="Screenshot frame"/>
          <p:cNvSpPr/>
          <p:nvPr/>
        </p:nvSpPr>
        <p:spPr>
          <a:xfrm>
            <a:off x="1740105" y="1097280"/>
            <a:ext cx="5663790" cy="2651760"/>
          </a:xfrm>
          <a:prstGeom prst="rect">
            <a:avLst/>
          </a:prstGeom>
          <a:ln w="12700">
            <a:solidFill>
              <a:srgbClr val="B9D3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27A"/>
                </a:solidFill>
              </a:rPr>
              <a:t>2. Dashboard: The dashboard provides a centralized interface to access the VAPT tools and security analysis features. It displays vulnerability assessment results and helps users identify potential security risks.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2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T Navy Teal">
  <a:themeElements>
    <a:clrScheme name="VAPT Navy Teal">
      <a:dk1>
        <a:srgbClr val="1F2A44"/>
      </a:dk1>
      <a:lt1>
        <a:srgbClr val="FFFFFF"/>
      </a:lt1>
      <a:dk2>
        <a:srgbClr val="14305E"/>
      </a:dk2>
      <a:lt2>
        <a:srgbClr val="E8F4F6"/>
      </a:lt2>
      <a:accent1>
        <a:srgbClr val="14305E"/>
      </a:accent1>
      <a:accent2>
        <a:srgbClr val="0E9AA7"/>
      </a:accent2>
      <a:accent3>
        <a:srgbClr val="5FB8C2"/>
      </a:accent3>
      <a:accent4>
        <a:srgbClr val="2F5FA3"/>
      </a:accent4>
      <a:accent5>
        <a:srgbClr val="8FA6C4"/>
      </a:accent5>
      <a:accent6>
        <a:srgbClr val="F2A33A"/>
      </a:accent6>
      <a:hlink>
        <a:srgbClr val="0E9AA7"/>
      </a:hlink>
      <a:folHlink>
        <a:srgbClr val="2F5FA3"/>
      </a:folHlink>
    </a:clrScheme>
    <a:fontScheme name="VAPT Navy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Vulnerability Assessment and Penetration Testing Tools</dc:title>
  <dc:subject>PptxGenJS Presentation</dc:subject>
  <dc:creator>Shobanadevi S</dc:creator>
  <cp:lastModifiedBy>Shobanadevi S</cp:lastModifiedBy>
  <cp:revision>1</cp:revision>
  <dcterms:created xsi:type="dcterms:W3CDTF">2026-10-12T15:52:25Z</dcterms:created>
  <dcterms:modified xsi:type="dcterms:W3CDTF">2026-10-12T15:52:25Z</dcterms:modified>
</cp:coreProperties>
</file>